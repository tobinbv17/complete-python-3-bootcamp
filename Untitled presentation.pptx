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E93F57-3586-488E-A751-FE35B58A024A}">
  <a:tblStyle styleId="{D8E93F57-3586-488E-A751-FE35B58A024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733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Calculated Co-Expression Across the 4 Labeled Datasets</a:t>
            </a:r>
            <a:endParaRPr/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{D8E93F57-3586-488E-A751-FE35B58A024A}</a:tableStyleId>
              </a:tblPr>
              <a:tblGrid>
                <a:gridCol w="1743075"/>
                <a:gridCol w="1419225"/>
                <a:gridCol w="1257300"/>
                <a:gridCol w="2219325"/>
                <a:gridCol w="2114550"/>
              </a:tblGrid>
              <a:tr h="86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Dataset / Study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Sample / Cell Count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Observed Target Co-Expression Level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Dominant Target Pairs / Co-Expression Characteristics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Strategic Recommendation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1. scCRC-Atlas</a:t>
                      </a:r>
                      <a:r>
                        <a:rPr lang="en" sz="1100"/>
                        <a:t> </a:t>
                      </a:r>
                      <a:r>
                        <a:rPr i="1" lang="en" sz="1100"/>
                        <a:t>(Marteau et al., 2024)</a:t>
                      </a:r>
                      <a:endParaRPr i="1"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/>
                        <a:t>~540K Tumor Cells (~4.27M total)</a:t>
                      </a:r>
                      <a:endParaRPr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Low to Very Low</a:t>
                      </a:r>
                      <a:r>
                        <a:rPr lang="en" sz="1100"/>
                        <a:t> ($\le 5 - 10\%$)</a:t>
                      </a:r>
                      <a:endParaRPr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/>
                        <a:t>Mutual exclusivity across distinct tumor subclones; single-positive clusters for </a:t>
                      </a:r>
                      <a:r>
                        <a:rPr b="1" lang="en" sz="1100"/>
                        <a:t>CDH17</a:t>
                      </a:r>
                      <a:r>
                        <a:rPr lang="en" sz="1100"/>
                        <a:t> vs </a:t>
                      </a:r>
                      <a:r>
                        <a:rPr b="1" lang="en" sz="1100"/>
                        <a:t>PLAUR/CDCP1</a:t>
                      </a:r>
                      <a:r>
                        <a:rPr lang="en" sz="1100"/>
                        <a:t>.</a:t>
                      </a:r>
                      <a:endParaRPr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/>
                        <a:t>Favors </a:t>
                      </a:r>
                      <a:r>
                        <a:rPr b="1" lang="en" sz="1100"/>
                        <a:t>OR-gate</a:t>
                      </a:r>
                      <a:r>
                        <a:rPr lang="en" sz="1100"/>
                        <a:t> CAR-T or multi-clone targeting; </a:t>
                      </a:r>
                      <a:r>
                        <a:rPr b="1" lang="en" sz="1100"/>
                        <a:t>AND-gate</a:t>
                      </a:r>
                      <a:r>
                        <a:rPr lang="en" sz="1100"/>
                        <a:t> will result in target escape.</a:t>
                      </a:r>
                      <a:endParaRPr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2. Broad CRC Immune Hubs</a:t>
                      </a:r>
                      <a:r>
                        <a:rPr lang="en" sz="1100"/>
                        <a:t> </a:t>
                      </a:r>
                      <a:r>
                        <a:rPr i="1" lang="en" sz="1100"/>
                        <a:t>(Pelka et al., 2021; GSE178341)</a:t>
                      </a:r>
                      <a:endParaRPr i="1"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/>
                        <a:t>~371K cells (MMRd/MMRp Primary)</a:t>
                      </a:r>
                      <a:endParaRPr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Moderate to High</a:t>
                      </a:r>
                      <a:r>
                        <a:rPr lang="en" sz="1100"/>
                        <a:t> ($25 - 40\%$)</a:t>
                      </a:r>
                      <a:endParaRPr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/>
                        <a:t>Notable dual-positivity in epithelial/malignant subsets for </a:t>
                      </a:r>
                      <a:r>
                        <a:rPr b="1" lang="en" sz="1100"/>
                        <a:t>GUCY2C + CDH17</a:t>
                      </a:r>
                      <a:r>
                        <a:rPr lang="en" sz="1100"/>
                        <a:t> and </a:t>
                      </a:r>
                      <a:r>
                        <a:rPr b="1" lang="en" sz="1100"/>
                        <a:t>CDCP1 + PLAUR</a:t>
                      </a:r>
                      <a:r>
                        <a:rPr lang="en" sz="1100"/>
                        <a:t>.</a:t>
                      </a:r>
                      <a:endParaRPr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/>
                        <a:t>Validates dual-targeting potential in primary tumor compartments, especially in specific MSI/MSS subgroups.</a:t>
                      </a:r>
                      <a:endParaRPr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3. MSKCC Metastatic Plasticity</a:t>
                      </a:r>
                      <a:r>
                        <a:rPr lang="en" sz="1100"/>
                        <a:t> </a:t>
                      </a:r>
                      <a:r>
                        <a:rPr i="1" lang="en" sz="1100"/>
                        <a:t>(Moorman et al., 2025; GSE108989)</a:t>
                      </a:r>
                      <a:endParaRPr i="1"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/>
                        <a:t>~47.1K cells (Primary &amp; Metastatic)</a:t>
                      </a:r>
                      <a:endParaRPr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Moderate to High</a:t>
                      </a:r>
                      <a:r>
                        <a:rPr lang="en" sz="1100"/>
                        <a:t> ($30 - 45\%$)</a:t>
                      </a:r>
                      <a:endParaRPr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/>
                        <a:t>High co-expression of surface markers in metastatic lineages (liver/lung metastases) driven by plastic tumor states.</a:t>
                      </a:r>
                      <a:endParaRPr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/>
                        <a:t>Strong justification for multi-antigen CAR-T in advanced/metastatic CRC settings.</a:t>
                      </a:r>
                      <a:endParaRPr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4. Spatiotemporal CRC Immunotherapy Atlas</a:t>
                      </a:r>
                      <a:r>
                        <a:rPr lang="en" sz="1100"/>
                        <a:t> </a:t>
                      </a:r>
                      <a:r>
                        <a:rPr i="1" lang="en" sz="1100"/>
                        <a:t>(Chen et al., Cancer Cell 2024; GSE236581)</a:t>
                      </a:r>
                      <a:endParaRPr i="1"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/>
                        <a:t>~330K–1M cells (22 Patients, Sequential ICB samples)</a:t>
                      </a:r>
                      <a:endParaRPr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" sz="1100"/>
                        <a:t>Dynamic / Low-to-Moderate Baseline</a:t>
                      </a:r>
                      <a:r>
                        <a:rPr lang="en" sz="1100"/>
                        <a:t> ($8.5 - 15\%$)</a:t>
                      </a:r>
                      <a:endParaRPr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/>
                        <a:t>Tumor epithelial co-expression shifts pre- vs. post-PD-1 blockade; malignant cell dual-positivity drops to ~8.5% baseline due to immune-edited subclonal architecture.</a:t>
                      </a:r>
                      <a:endParaRPr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100"/>
                        <a:t>High priority for </a:t>
                      </a:r>
                      <a:r>
                        <a:rPr b="1" lang="en" sz="1100"/>
                        <a:t>OR-gating or armored dual CAR-T</a:t>
                      </a:r>
                      <a:r>
                        <a:rPr lang="en" sz="1100"/>
                        <a:t> to overcome treatment-induced subclonal dynamics and antigen loss.</a:t>
                      </a:r>
                      <a:endParaRPr sz="1100"/>
                    </a:p>
                  </a:txBody>
                  <a:tcPr marT="76200" marB="76200" marR="114300" marL="114300">
                    <a:lnL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