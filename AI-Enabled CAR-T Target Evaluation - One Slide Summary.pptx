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78748"/>
            <a:ext cx="11239500" cy="52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1000"/>
            <a:ext cx="340042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504950"/>
            <a:ext cx="5534025" cy="215592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1504950"/>
            <a:ext cx="5534025" cy="215592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32324"/>
            <a:ext cx="5534025" cy="215592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725" y="3832324"/>
            <a:ext cx="5534025" cy="21559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742950"/>
            <a:ext cx="11715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AI-Enabled CAR-T Target Evaluation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1123950"/>
            <a:ext cx="11239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DM Sans"/>
              </a:rPr>
              <a:t>Multi-Omic Knowledge Graphs, Rubrix Target Scoring, Suppressive Pathway Profiling, &amp; IHC Validation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457200"/>
            <a:ext cx="119062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6364485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2500" y="6293048"/>
            <a:ext cx="18002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DM Sans"/>
              </a:rPr>
              <a:t>Scope Focus</a:t>
            </a:r>
            <a:r>
              <a:rPr b="0" sz="975" i="0" u="none">
                <a:solidFill>
                  <a:srgbClr val="FFFFFF"/>
                </a:solidFill>
                <a:latin typeface="DM Sans"/>
              </a:rPr>
              <a:t> </a:t>
            </a:r>
            <a:r>
              <a:rPr b="0" sz="975" i="0" u="none">
                <a:solidFill>
                  <a:srgbClr val="F8FAFC"/>
                </a:solidFill>
                <a:latin typeface="DM Sans SemiBold"/>
              </a:rPr>
              <a:t>AbbVie Oncology Indications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2537" y="6364485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10187" y="6293048"/>
            <a:ext cx="19526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DM Sans"/>
              </a:rPr>
              <a:t>Execution Engine</a:t>
            </a:r>
            <a:r>
              <a:rPr b="0" sz="975" i="0" u="none">
                <a:solidFill>
                  <a:srgbClr val="FFFFFF"/>
                </a:solidFill>
                <a:latin typeface="DM Sans"/>
              </a:rPr>
              <a:t> </a:t>
            </a:r>
            <a:r>
              <a:rPr b="0" sz="975" i="0" u="none">
                <a:solidFill>
                  <a:srgbClr val="F8FAFC"/>
                </a:solidFill>
                <a:latin typeface="DM Sans SemiBold"/>
              </a:rPr>
              <a:t>CodeOcean + Knowledge Graph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72625" y="6364485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20275" y="6293048"/>
            <a:ext cx="16668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DM Sans"/>
              </a:rPr>
              <a:t>Gold Standard</a:t>
            </a:r>
            <a:r>
              <a:rPr b="0" sz="975" i="0" u="none">
                <a:solidFill>
                  <a:srgbClr val="FFFFFF"/>
                </a:solidFill>
                <a:latin typeface="DM Sans"/>
              </a:rPr>
              <a:t> </a:t>
            </a:r>
            <a:r>
              <a:rPr b="0" sz="975" i="0" u="none">
                <a:solidFill>
                  <a:srgbClr val="F8FAFC"/>
                </a:solidFill>
                <a:latin typeface="DM Sans SemiBold"/>
              </a:rPr>
              <a:t>IHC Tissue Protein Staining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325" y="1704975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2525" y="1752600"/>
            <a:ext cx="326040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1E3A8A"/>
                </a:solidFill>
                <a:latin typeface="Poppins SemiBold"/>
              </a:rPr>
              <a:t>1. Development Scope &amp;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228850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Target Focus: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Automated CAR-T target evaluation pipeline tailored specifically to core AbbVie oncology indications.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2664916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Dev Environment: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Claude Code agentic vibe-coding built in CodeOcean (bypassing local Docker constraints).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3100982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Primary Goal: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Deliver standardized, repeatable target packages for Oncology Discovery Review (ODR) decision-making.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704975"/>
            <a:ext cx="342900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0" y="1752600"/>
            <a:ext cx="296037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1E3A8A"/>
                </a:solidFill>
                <a:latin typeface="Poppins SemiBold"/>
              </a:rPr>
              <a:t>2. KG &amp; Automated Rubrix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2228850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Multi-Omic KG: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Integrates transcriptomics, proteomics, and disease ontologies to map cell-surface targets.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1300" y="2664916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Rubrix Scoring: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Multi-parametric automated scoring algorithm evaluating expression specificity, safety, and surface accessibility.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1300" y="3100982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Cohort Isolation: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Filters patient samples to isolate target high-expressing subpopulations for downstream analysis.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325" y="4032349"/>
            <a:ext cx="342900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52525" y="4079974"/>
            <a:ext cx="327040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1E3A8A"/>
                </a:solidFill>
                <a:latin typeface="Poppins SemiBold"/>
              </a:rPr>
              <a:t>3. TME Profiling &amp; Armoring Blueprints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4556224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Suppressive Discovery: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Queries high-expressers for co-expressed checkpoints (PD-L1, TIGIT) and soluble factors (TGF-β, IL-10).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4992290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Rational Payload Design: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Informs armoring strategies (e.g., TGFβRII dominant-negative, switch receptors, or IL-12/15 secretion).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5428357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Durability: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Overcomes local immunosuppression and prevents CAR-T exhaustion in hostile cold TMEs.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4032349"/>
            <a:ext cx="342900" cy="3429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8000" y="4079974"/>
            <a:ext cx="278034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1E3A8A"/>
                </a:solidFill>
                <a:latin typeface="Poppins SemiBold"/>
              </a:rPr>
              <a:t>4. IHC Validation &amp; Next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1300" y="4556224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Protein Stain Imperative: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Mandatory tissue protein staining (IHC / IF on TMAs) required to confirm surface co-localization.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1300" y="4992290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Modality Scalability: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Framework easily extends beyond CAR-T to ADCs, T-cell engagers (TCEs), and autoimmune cell therapies.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1300" y="5428357"/>
            <a:ext cx="4905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0F172A"/>
                </a:solidFill>
                <a:latin typeface="DM Sans SemiBold"/>
              </a:rPr>
              <a:t>Action Plan:</a:t>
            </a:r>
            <a:r>
              <a:rPr b="0" sz="1012" i="0" u="none">
                <a:solidFill>
                  <a:srgbClr val="334155"/>
                </a:solidFill>
                <a:latin typeface="DM Sans"/>
              </a:rPr>
              <a:t> Present to CAR-T working group, validate target lists, and align histology lab for IHC validation handoff.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237" y="1790700"/>
            <a:ext cx="219075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2950" y="2209800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2645866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3081932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790700"/>
            <a:ext cx="190500" cy="1714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48425" y="2209800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8425" y="2645866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8425" y="3081932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" y="4118074"/>
            <a:ext cx="171450" cy="1714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2950" y="4537174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4973240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950" y="5409307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6525" y="4118074"/>
            <a:ext cx="171450" cy="1714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8425" y="4537174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8425" y="4973240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8425" y="5409307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